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8" r:id="rId10"/>
    <p:sldId id="263" r:id="rId11"/>
    <p:sldId id="264" r:id="rId12"/>
    <p:sldId id="265" r:id="rId13"/>
    <p:sldId id="267" r:id="rId14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95D826-45E8-CE15-5243-E6AEAA6F2A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AE2DC4E-21EA-560A-F2F1-308B828E49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53E3D03-876C-028F-B860-FF2323E9C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01304-8143-450A-BAF5-B749BBEA05A9}" type="datetimeFigureOut">
              <a:rPr lang="es-ES" smtClean="0"/>
              <a:t>04/03/2026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C5D4810-4CCC-CD91-FDCB-789E5274B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23B7F39-7CE4-F4DC-87C8-D412A9743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EDA74-04E0-45E9-987C-F769DCBFA5F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8454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FA2D49-A780-2ECE-7667-645F1AA08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6EC0B25-61B7-CA31-3CEA-1E45E71E1B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536AC19-9A29-8EEC-6AD0-F4F68F247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01304-8143-450A-BAF5-B749BBEA05A9}" type="datetimeFigureOut">
              <a:rPr lang="es-ES" smtClean="0"/>
              <a:t>04/03/2026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00B3074-7A8B-B388-CBA7-9D13EEF3E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86CE17F-1E3E-AAB9-8B29-7D5B3CF54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EDA74-04E0-45E9-987C-F769DCBFA5F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44573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2974EA-DAF3-ABA9-D66A-09CADDAE60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65457A4-356E-8692-020D-3EB4CB39C6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37A7C9D-712E-263B-9F45-C42955B0F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01304-8143-450A-BAF5-B749BBEA05A9}" type="datetimeFigureOut">
              <a:rPr lang="es-ES" smtClean="0"/>
              <a:t>04/03/2026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4C24CA9-2C20-C58D-D89C-A1F77AFB7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CE038CD-398C-9144-60B1-96481CF45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EDA74-04E0-45E9-987C-F769DCBFA5F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564540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41BAB7-B1FF-3E9D-20CD-6EFA002F4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7DCFC99-AA53-79C8-5774-C60BDFD88A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6469819-12B9-A1DE-213A-1032E6AD3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593F37B-A002-E850-4925-46304EB60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01304-8143-450A-BAF5-B749BBEA05A9}" type="datetimeFigureOut">
              <a:rPr lang="es-ES" smtClean="0"/>
              <a:t>04/03/2026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0FECA42-15E8-418E-83F7-33263DB858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7371BC9-0547-9C2F-61AD-4F9C5F729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EDA74-04E0-45E9-987C-F769DCBFA5F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533827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7428E2-281C-FB14-441F-4C927DBB6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AFA8432-B6A5-CDFD-EF2E-552AFBD867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0BF655A-CD24-AE7B-D65B-E37CEFD4AE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60079AC-3BE6-713B-5E58-B970C36329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2DB786B-9117-29A1-DC7B-FFB9257E20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6396EEB-6F7A-BAEA-DF08-44B03E44E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01304-8143-450A-BAF5-B749BBEA05A9}" type="datetimeFigureOut">
              <a:rPr lang="es-ES" smtClean="0"/>
              <a:t>04/03/2026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989BB74-77AF-8097-6104-BF6086F79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FE4512F7-0841-8FA4-2CCE-8261412D4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EDA74-04E0-45E9-987C-F769DCBFA5F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997362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B48153-6734-AA12-A705-25A282374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7EF94C8-F77C-E2E7-F3EB-569F49E0C4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01304-8143-450A-BAF5-B749BBEA05A9}" type="datetimeFigureOut">
              <a:rPr lang="es-ES" smtClean="0"/>
              <a:t>04/03/2026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DA36ED7-8E14-0069-20D6-57BE12C8D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D795C56-077B-B5A5-B067-6EE0C636F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EDA74-04E0-45E9-987C-F769DCBFA5F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5186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378349E-6EF0-BBCE-74A8-5CDDD44BD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01304-8143-450A-BAF5-B749BBEA05A9}" type="datetimeFigureOut">
              <a:rPr lang="es-ES" smtClean="0"/>
              <a:t>04/03/2026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FC290A6-2F4E-C116-E3F1-AF9ADC6FF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062E9B5-A607-0D2C-09B5-11A534415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EDA74-04E0-45E9-987C-F769DCBFA5F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434769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809AAD-0C51-9F17-8FEF-90477B261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F19A1FA-64C5-7FAA-728C-2D7B01E6B2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2D352C4-DD61-A0F6-27BD-D9560D7C23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06ECD66-20F8-1C58-19BE-10BA5282C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01304-8143-450A-BAF5-B749BBEA05A9}" type="datetimeFigureOut">
              <a:rPr lang="es-ES" smtClean="0"/>
              <a:t>04/03/2026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D49587E-8944-AE4F-C539-E682B4635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92AC1EA-6917-5E5B-486C-884F7298E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EDA74-04E0-45E9-987C-F769DCBFA5F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720995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66615-3DD5-23A5-9BF3-D6ED0B696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4CC60EA-DFE1-9841-CDA7-A7EC2B70BD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22CE81E-A1DD-20D9-7AD4-EA6E9F359D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BD4A77B-DA7B-9912-723B-18CFEFBED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01304-8143-450A-BAF5-B749BBEA05A9}" type="datetimeFigureOut">
              <a:rPr lang="es-ES" smtClean="0"/>
              <a:t>04/03/2026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C1A8A8F-C1E6-81C9-A914-EA7F3A16E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A74590B-2B73-F8C0-E109-E5C42F3B3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EDA74-04E0-45E9-987C-F769DCBFA5F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677372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1798E6-09B6-ECF1-56D7-6CC935852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CA8F3A6-9AC0-568B-2848-7B5FAE5275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F79566F-B5F8-6985-643A-67448D486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01304-8143-450A-BAF5-B749BBEA05A9}" type="datetimeFigureOut">
              <a:rPr lang="es-ES" smtClean="0"/>
              <a:t>04/03/2026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DAF5E1-D3A7-3164-DA62-21576EDB3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C49CF6A-CC7C-4766-E269-021A286FE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EDA74-04E0-45E9-987C-F769DCBFA5F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4595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3CE0B55-A7E1-0481-7136-85442D0ADC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D308D12-EEE3-7508-C45F-68F6ACC71E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2868F6E-A337-DA82-8839-F494670D5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01304-8143-450A-BAF5-B749BBEA05A9}" type="datetimeFigureOut">
              <a:rPr lang="es-ES" smtClean="0"/>
              <a:t>04/03/2026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67C0AD4-0E05-88A3-F453-6CCA221F50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EDEFFB3-2990-FFDA-FD57-D1F6935F6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EDA74-04E0-45E9-987C-F769DCBFA5F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744370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BBD1EB73-B199-9E50-FE5E-B6F7D609B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220AD43-B961-1C81-3501-2999EE6A46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15BB009-86B8-4FB9-37A0-EBA4EBC7C1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701304-8143-450A-BAF5-B749BBEA05A9}" type="datetimeFigureOut">
              <a:rPr lang="es-ES" smtClean="0"/>
              <a:t>04/03/2026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D26629C-7440-BE21-ED4B-D7FEB7EC3F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80EC00A-C5E0-6E8E-1433-D78C88BA61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4EDA74-04E0-45E9-987C-F769DCBFA5F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893127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A89E07CE-3C2C-EE3C-A181-315BCF46D6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46540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2B0D11-FDE9-70AC-B555-B3A78F1B6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Problema de negocio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572FCFC-EE3B-4268-B033-EF3A6B34780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02920" y="2169202"/>
            <a:ext cx="10427208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Agencia especializada en vuelos </a:t>
            </a:r>
            <a:r>
              <a:rPr kumimoji="0" lang="es-ES" altLang="es-E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nacinales</a:t>
            </a: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dentro de India.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ES" altLang="es-E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Mercado altamente dinámico con precios que cambian según aerolínea, duración, escalas y antelación de compra.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ES" altLang="es-E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Necesidad de entender cómo evolucionan los precios para mejorar la toma de decisiones</a:t>
            </a:r>
            <a:r>
              <a:rPr lang="es-ES" altLang="es-ES" sz="2400" dirty="0">
                <a:latin typeface="Arial" panose="020B0604020202020204" pitchFamily="34" charset="0"/>
              </a:rPr>
              <a:t> para nuestros clientes.</a:t>
            </a:r>
            <a:endParaRPr kumimoji="0" lang="es-ES" altLang="es-E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8B2F7F75-7A19-D887-D776-FA44B3AD85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6074" y="44669"/>
            <a:ext cx="3875926" cy="1966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93586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F36762-D7C7-30B7-5243-1CD45170F5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10D42C-C67B-02E0-FB19-8991377EC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Datos disponibles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3A75B15-AADC-B946-3D95-F8CDBA7BDE8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76072" y="2231209"/>
            <a:ext cx="10427208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Contamos con datos de un web </a:t>
            </a:r>
            <a:r>
              <a:rPr kumimoji="0" lang="es-ES" altLang="es-E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scrapping</a:t>
            </a: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del 10 de febrero y va desde el 11 de febrero al 31 de marzo las búsquedas. Por lo que no recogemos estacionalidades.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A67F1AF1-ED44-DE22-1F4D-F640CC060B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6074" y="44669"/>
            <a:ext cx="3875926" cy="1966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1961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9E1ED4-3858-1DB4-9C34-B62C48FEA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7327392" cy="1325563"/>
          </a:xfrm>
        </p:spPr>
        <p:txBody>
          <a:bodyPr/>
          <a:lstStyle/>
          <a:p>
            <a:r>
              <a:rPr lang="es-ES" dirty="0"/>
              <a:t>Limpieza de datos(ETL)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4F35B92-0769-6D28-85F5-E78F9A04E7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7616" y="2011143"/>
            <a:ext cx="10515600" cy="4351338"/>
          </a:xfrm>
        </p:spPr>
        <p:txBody>
          <a:bodyPr>
            <a:normAutofit fontScale="92500" lnSpcReduction="10000"/>
          </a:bodyPr>
          <a:lstStyle/>
          <a:p>
            <a:r>
              <a:rPr lang="es-ES" dirty="0"/>
              <a:t>Para la limpieza de los datos del </a:t>
            </a:r>
            <a:r>
              <a:rPr lang="es-ES" dirty="0" err="1"/>
              <a:t>dataset</a:t>
            </a:r>
            <a:r>
              <a:rPr lang="es-ES" dirty="0"/>
              <a:t> de </a:t>
            </a:r>
            <a:r>
              <a:rPr lang="es-ES" dirty="0" err="1"/>
              <a:t>Economy</a:t>
            </a:r>
            <a:r>
              <a:rPr lang="es-ES" dirty="0"/>
              <a:t> y  Business hemos hecho una ETL para automatizar la limpieza. Con los siguientes </a:t>
            </a:r>
            <a:r>
              <a:rPr lang="es-ES" dirty="0" err="1"/>
              <a:t>tranformers</a:t>
            </a:r>
            <a:r>
              <a:rPr lang="es-ES" dirty="0"/>
              <a:t>:</a:t>
            </a:r>
          </a:p>
          <a:p>
            <a:endParaRPr lang="es-ES" dirty="0"/>
          </a:p>
          <a:p>
            <a:pPr lvl="1"/>
            <a:r>
              <a:rPr lang="es-ES" dirty="0" err="1"/>
              <a:t>Transformer</a:t>
            </a:r>
            <a:r>
              <a:rPr lang="es-ES" dirty="0"/>
              <a:t> 1: Convertir duración</a:t>
            </a:r>
          </a:p>
          <a:p>
            <a:pPr lvl="1"/>
            <a:r>
              <a:rPr lang="es-ES" dirty="0" err="1"/>
              <a:t>Transformer</a:t>
            </a:r>
            <a:r>
              <a:rPr lang="es-ES" dirty="0"/>
              <a:t> 2: Categorizar horas</a:t>
            </a:r>
          </a:p>
          <a:p>
            <a:pPr lvl="1"/>
            <a:r>
              <a:rPr lang="es-ES" dirty="0" err="1"/>
              <a:t>Transformer</a:t>
            </a:r>
            <a:r>
              <a:rPr lang="es-ES" dirty="0"/>
              <a:t> 3: Limpiar </a:t>
            </a:r>
            <a:r>
              <a:rPr lang="es-ES" dirty="0" err="1"/>
              <a:t>stops</a:t>
            </a:r>
            <a:endParaRPr lang="es-ES" dirty="0"/>
          </a:p>
          <a:p>
            <a:pPr lvl="1"/>
            <a:r>
              <a:rPr lang="es-ES" dirty="0" err="1"/>
              <a:t>Transformer</a:t>
            </a:r>
            <a:r>
              <a:rPr lang="es-ES" dirty="0"/>
              <a:t> 4: Calcular </a:t>
            </a:r>
            <a:r>
              <a:rPr lang="es-ES" dirty="0" err="1"/>
              <a:t>days_left</a:t>
            </a:r>
            <a:endParaRPr lang="es-ES" dirty="0"/>
          </a:p>
          <a:p>
            <a:pPr lvl="1"/>
            <a:r>
              <a:rPr lang="es-ES" dirty="0" err="1"/>
              <a:t>Transformer</a:t>
            </a:r>
            <a:r>
              <a:rPr lang="es-ES" dirty="0"/>
              <a:t> 5: Eliminar columnas irrelevantes</a:t>
            </a:r>
          </a:p>
          <a:p>
            <a:pPr lvl="1"/>
            <a:r>
              <a:rPr lang="es-ES" dirty="0" err="1"/>
              <a:t>Transformer</a:t>
            </a:r>
            <a:r>
              <a:rPr lang="es-ES" dirty="0"/>
              <a:t> 6: Convertir </a:t>
            </a:r>
            <a:r>
              <a:rPr lang="es-ES" dirty="0" err="1"/>
              <a:t>price</a:t>
            </a:r>
            <a:r>
              <a:rPr lang="es-ES" dirty="0"/>
              <a:t> a </a:t>
            </a:r>
            <a:r>
              <a:rPr lang="es-ES" dirty="0" err="1"/>
              <a:t>float</a:t>
            </a:r>
            <a:endParaRPr lang="es-ES" dirty="0"/>
          </a:p>
          <a:p>
            <a:pPr lvl="1"/>
            <a:r>
              <a:rPr lang="es-ES" dirty="0" err="1"/>
              <a:t>Tranformer</a:t>
            </a:r>
            <a:r>
              <a:rPr lang="es-ES" dirty="0"/>
              <a:t> 7: Agrupar las aerolíneas</a:t>
            </a:r>
          </a:p>
          <a:p>
            <a:pPr lvl="1"/>
            <a:r>
              <a:rPr lang="es-ES" dirty="0" err="1"/>
              <a:t>Tranformer</a:t>
            </a:r>
            <a:r>
              <a:rPr lang="es-ES" dirty="0"/>
              <a:t> 8: Eliminar los duplicados</a:t>
            </a:r>
          </a:p>
          <a:p>
            <a:pPr lvl="1"/>
            <a:endParaRPr lang="es-ES" dirty="0"/>
          </a:p>
          <a:p>
            <a:pPr lvl="1"/>
            <a:endParaRPr lang="es-ES" dirty="0"/>
          </a:p>
          <a:p>
            <a:pPr lvl="1"/>
            <a:endParaRPr lang="es-ES" dirty="0"/>
          </a:p>
          <a:p>
            <a:pPr lvl="1"/>
            <a:endParaRPr lang="es-ES" dirty="0"/>
          </a:p>
          <a:p>
            <a:pPr lvl="1"/>
            <a:endParaRPr lang="es-ES" dirty="0"/>
          </a:p>
          <a:p>
            <a:pPr lvl="1"/>
            <a:endParaRPr lang="es-ES" dirty="0"/>
          </a:p>
          <a:p>
            <a:pPr lvl="1"/>
            <a:endParaRPr lang="es-ES" dirty="0"/>
          </a:p>
          <a:p>
            <a:pPr lvl="1"/>
            <a:endParaRPr lang="es-ES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E745462-3C1C-758E-A5BC-9C0C2CD7B0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6074" y="0"/>
            <a:ext cx="3875926" cy="1966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17124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157B4E-42FB-9925-3D62-F71036444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7299960" cy="1325563"/>
          </a:xfrm>
        </p:spPr>
        <p:txBody>
          <a:bodyPr/>
          <a:lstStyle/>
          <a:p>
            <a:r>
              <a:rPr lang="es-ES" dirty="0"/>
              <a:t>Elección de dos modelos de Machine </a:t>
            </a:r>
            <a:r>
              <a:rPr lang="es-ES" dirty="0" err="1"/>
              <a:t>Learning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51D3865-48E6-78CB-23C1-D64DAB718B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Hemos decidido realizar dos modelos de Machine </a:t>
            </a:r>
            <a:r>
              <a:rPr lang="es-ES" dirty="0" err="1"/>
              <a:t>Learning</a:t>
            </a:r>
            <a:r>
              <a:rPr lang="es-ES" dirty="0"/>
              <a:t> independientes uno para los vuelos </a:t>
            </a:r>
            <a:r>
              <a:rPr lang="es-ES" dirty="0" err="1"/>
              <a:t>Economy</a:t>
            </a:r>
            <a:r>
              <a:rPr lang="es-ES" dirty="0"/>
              <a:t> y otros para los vuelos Business. Nuestra variable target es el Price.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2EDBC8F-9951-907D-2869-EBF0E51C6F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219503"/>
            <a:ext cx="4979953" cy="3273372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38E39A7A-8360-A3D8-3F4C-B1F13EEC0A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2450" y="3176285"/>
            <a:ext cx="5131350" cy="3279053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F2228893-083F-1447-2FC8-BD888AE0AD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6074" y="0"/>
            <a:ext cx="3875926" cy="1966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50769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F75B83-81EF-A636-92C7-12A94E6624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7382256" cy="1325563"/>
          </a:xfrm>
        </p:spPr>
        <p:txBody>
          <a:bodyPr/>
          <a:lstStyle/>
          <a:p>
            <a:r>
              <a:rPr lang="es-ES" dirty="0"/>
              <a:t>Selección de </a:t>
            </a:r>
            <a:r>
              <a:rPr lang="es-ES" dirty="0" err="1"/>
              <a:t>features</a:t>
            </a:r>
            <a:r>
              <a:rPr lang="es-ES" dirty="0"/>
              <a:t> </a:t>
            </a:r>
            <a:r>
              <a:rPr lang="es-ES" dirty="0" err="1"/>
              <a:t>categoricas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FF77792-B3BB-3332-468A-1676ABABAA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dirty="0"/>
              <a:t>Realizamos un test ANOVA para ver con que </a:t>
            </a:r>
            <a:r>
              <a:rPr lang="es-ES" dirty="0" err="1"/>
              <a:t>features</a:t>
            </a:r>
            <a:r>
              <a:rPr lang="es-ES" dirty="0"/>
              <a:t> nos quedábamos y vimos que todos </a:t>
            </a:r>
            <a:r>
              <a:rPr lang="es-ES" dirty="0" err="1"/>
              <a:t>teneian</a:t>
            </a:r>
            <a:r>
              <a:rPr lang="es-ES" dirty="0"/>
              <a:t> un </a:t>
            </a:r>
            <a:r>
              <a:rPr lang="es-ES" dirty="0" err="1"/>
              <a:t>Pvalue</a:t>
            </a:r>
            <a:r>
              <a:rPr lang="es-ES" dirty="0"/>
              <a:t> muy pequeño &lt;0,05 por lo que no </a:t>
            </a:r>
            <a:r>
              <a:rPr lang="es-ES" dirty="0" err="1"/>
              <a:t>descaratamos</a:t>
            </a:r>
            <a:r>
              <a:rPr lang="es-ES" dirty="0"/>
              <a:t> </a:t>
            </a:r>
            <a:r>
              <a:rPr lang="es-ES" dirty="0" err="1"/>
              <a:t>ninuguna</a:t>
            </a:r>
            <a:r>
              <a:rPr lang="es-ES" dirty="0"/>
              <a:t> y nos quedamos con estas </a:t>
            </a:r>
            <a:r>
              <a:rPr lang="es-ES" dirty="0" err="1"/>
              <a:t>variabes</a:t>
            </a:r>
            <a:r>
              <a:rPr lang="es-ES" dirty="0"/>
              <a:t>:</a:t>
            </a:r>
          </a:p>
          <a:p>
            <a:r>
              <a:rPr lang="es-ES" dirty="0" err="1"/>
              <a:t>Airline</a:t>
            </a:r>
            <a:endParaRPr lang="es-ES" dirty="0"/>
          </a:p>
          <a:p>
            <a:r>
              <a:rPr lang="es-ES" dirty="0" err="1"/>
              <a:t>From</a:t>
            </a:r>
            <a:endParaRPr lang="es-ES" dirty="0"/>
          </a:p>
          <a:p>
            <a:r>
              <a:rPr lang="es-ES" dirty="0" err="1"/>
              <a:t>To</a:t>
            </a:r>
            <a:r>
              <a:rPr lang="es-ES" dirty="0"/>
              <a:t> </a:t>
            </a:r>
          </a:p>
          <a:p>
            <a:r>
              <a:rPr lang="es-ES" dirty="0" err="1"/>
              <a:t>dep_time_cat</a:t>
            </a:r>
            <a:r>
              <a:rPr lang="es-ES" dirty="0"/>
              <a:t>:</a:t>
            </a:r>
          </a:p>
          <a:p>
            <a:r>
              <a:rPr lang="es-ES" dirty="0" err="1"/>
              <a:t>arr_time_cat</a:t>
            </a:r>
            <a:r>
              <a:rPr lang="es-ES" dirty="0"/>
              <a:t>: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B79F0BF-A14A-AABA-9775-F6CF13E513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6074" y="0"/>
            <a:ext cx="3875926" cy="1966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92653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70026E-DC45-62CB-D48C-FA6FF99BF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Selección de </a:t>
            </a:r>
            <a:r>
              <a:rPr lang="es-ES" dirty="0" err="1"/>
              <a:t>features</a:t>
            </a:r>
            <a:r>
              <a:rPr lang="es-ES" dirty="0"/>
              <a:t> numéricas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99C463-04E1-82C7-D909-35A2BCDDF5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4464" y="1507560"/>
            <a:ext cx="7354824" cy="4210489"/>
          </a:xfrm>
        </p:spPr>
        <p:txBody>
          <a:bodyPr>
            <a:normAutofit/>
          </a:bodyPr>
          <a:lstStyle/>
          <a:p>
            <a:r>
              <a:rPr lang="es-ES" sz="2400" dirty="0"/>
              <a:t>Realizamos matrices de correlación tanto para </a:t>
            </a:r>
            <a:r>
              <a:rPr lang="es-ES" sz="2400" dirty="0" err="1"/>
              <a:t>Economy</a:t>
            </a:r>
            <a:r>
              <a:rPr lang="es-ES" sz="2400" dirty="0"/>
              <a:t> como Business y el test de Mutual </a:t>
            </a:r>
            <a:r>
              <a:rPr lang="es-ES" sz="2400" dirty="0" err="1"/>
              <a:t>Information</a:t>
            </a:r>
            <a:r>
              <a:rPr lang="es-ES" sz="2400" dirty="0"/>
              <a:t>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896C104-6611-4A92-EB3A-8F967D392E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6074" y="0"/>
            <a:ext cx="3875926" cy="1966474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9C11F006-FE5C-EFF9-10AE-B5497253B4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339268"/>
            <a:ext cx="4405641" cy="3532333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A136A55A-CF4B-B380-A501-73F7D4AA64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0893" y="2339268"/>
            <a:ext cx="4357643" cy="3532333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5055451D-E3F5-6724-E871-B4E902B1DD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17875" y="5988578"/>
            <a:ext cx="1855580" cy="860880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9FE1B5D9-8FB6-C526-FB9D-6E1F288C2F9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0860" y="5988578"/>
            <a:ext cx="2075372" cy="824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54687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97F420-F4CD-65BA-3A3E-45D0D2CD1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Machine </a:t>
            </a:r>
            <a:r>
              <a:rPr lang="es-ES" dirty="0" err="1"/>
              <a:t>Learning</a:t>
            </a:r>
            <a:r>
              <a:rPr lang="es-ES" dirty="0"/>
              <a:t>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523E5CB-7978-ACBE-5C7C-70669DB868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err="1"/>
              <a:t>Metricas</a:t>
            </a:r>
            <a:r>
              <a:rPr lang="es-ES" dirty="0"/>
              <a:t>:</a:t>
            </a:r>
          </a:p>
          <a:p>
            <a:endParaRPr lang="es-ES" dirty="0"/>
          </a:p>
          <a:p>
            <a:pPr lvl="1"/>
            <a:r>
              <a:rPr lang="es-ES" dirty="0"/>
              <a:t>RMSE será la métrica principal de evaluación, ya que nos interesa penalizar los errores grandes de predicción del target. </a:t>
            </a:r>
          </a:p>
          <a:p>
            <a:pPr lvl="1"/>
            <a:r>
              <a:rPr lang="es-ES" dirty="0"/>
              <a:t>MAE </a:t>
            </a:r>
          </a:p>
          <a:p>
            <a:pPr lvl="1"/>
            <a:r>
              <a:rPr lang="es-ES" dirty="0"/>
              <a:t>R2 score</a:t>
            </a:r>
          </a:p>
          <a:p>
            <a:endParaRPr lang="es-ES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3DC216F-82FE-B61C-27C3-7E25074204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6074" y="0"/>
            <a:ext cx="3875926" cy="1966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99379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AEEC52-C6C4-2D2D-4457-8240F8E97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Tratamiento de </a:t>
            </a:r>
            <a:r>
              <a:rPr lang="es-ES" dirty="0" err="1"/>
              <a:t>features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F1A56D8-2F2A-4AB9-7CC3-97B7D3C371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Codificamos las variables categóricas con </a:t>
            </a:r>
            <a:r>
              <a:rPr lang="es-ES" dirty="0" err="1"/>
              <a:t>OneHotEncoder</a:t>
            </a:r>
            <a:r>
              <a:rPr lang="es-ES" dirty="0"/>
              <a:t>. Las variables numéricas no las vamos a tratar ya que no usamos modelos que lo necesiten y además no ayudan en nuestro caso.</a:t>
            </a:r>
          </a:p>
          <a:p>
            <a:endParaRPr lang="es-ES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0A280CD-CE3B-62DD-61AD-749BCCFB8A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6074" y="0"/>
            <a:ext cx="3875926" cy="1966474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E2022E9E-134C-3006-4C5F-5FA7E02FB9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0115" y="3868640"/>
            <a:ext cx="6111770" cy="784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79556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49F0B2-751A-43BF-375A-005227255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Machine </a:t>
            </a:r>
            <a:r>
              <a:rPr lang="es-ES" dirty="0" err="1"/>
              <a:t>Learning</a:t>
            </a:r>
            <a:r>
              <a:rPr lang="es-ES" dirty="0"/>
              <a:t>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4F09290-6A3E-4EB7-023B-2975FB736B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39696"/>
            <a:ext cx="10515600" cy="4037266"/>
          </a:xfrm>
        </p:spPr>
        <p:txBody>
          <a:bodyPr/>
          <a:lstStyle/>
          <a:p>
            <a:r>
              <a:rPr lang="es-ES" dirty="0"/>
              <a:t>Como hemos visto se decide hacer dos modelos independientes uno para </a:t>
            </a:r>
            <a:r>
              <a:rPr lang="es-ES" dirty="0" err="1"/>
              <a:t>Economy</a:t>
            </a:r>
            <a:r>
              <a:rPr lang="es-ES" dirty="0"/>
              <a:t> y otro para Business. Para este programa de regresión cogeremos como </a:t>
            </a:r>
            <a:r>
              <a:rPr lang="es-ES" dirty="0" err="1"/>
              <a:t>baseline</a:t>
            </a:r>
            <a:r>
              <a:rPr lang="es-ES" dirty="0"/>
              <a:t> </a:t>
            </a:r>
            <a:r>
              <a:rPr lang="es-ES" dirty="0" err="1"/>
              <a:t>Randomforest</a:t>
            </a:r>
            <a:r>
              <a:rPr lang="es-ES" dirty="0"/>
              <a:t>, y por otro lado </a:t>
            </a:r>
            <a:r>
              <a:rPr lang="es-ES" dirty="0" err="1"/>
              <a:t>XGBoost</a:t>
            </a:r>
            <a:r>
              <a:rPr lang="es-ES" dirty="0"/>
              <a:t> y </a:t>
            </a:r>
            <a:r>
              <a:rPr lang="es-ES" dirty="0" err="1"/>
              <a:t>LightGBM</a:t>
            </a:r>
            <a:r>
              <a:rPr lang="es-ES" dirty="0"/>
              <a:t>. A la vista de los resultados de la validación cruzada en ambos modelos elegimos el modelo de </a:t>
            </a:r>
            <a:r>
              <a:rPr lang="es-ES" dirty="0" err="1"/>
              <a:t>Xboost</a:t>
            </a:r>
            <a:r>
              <a:rPr lang="es-ES" dirty="0"/>
              <a:t>.</a:t>
            </a:r>
          </a:p>
          <a:p>
            <a:endParaRPr lang="es-ES" dirty="0"/>
          </a:p>
          <a:p>
            <a:endParaRPr lang="es-ES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ED3E281-0E58-CE7A-3CF3-445E94EEC1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6074" y="0"/>
            <a:ext cx="3875926" cy="1966474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0158A667-D5BD-6F72-0630-CE6A391D55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2412" y="4158329"/>
            <a:ext cx="2169003" cy="2568163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2F541835-E163-0294-8C01-1FD3F797D5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2864" y="4158329"/>
            <a:ext cx="2169003" cy="2568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88631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871727-40F4-B726-9078-64BEA3F23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Optimizacion</a:t>
            </a:r>
            <a:r>
              <a:rPr lang="es-ES" dirty="0"/>
              <a:t> </a:t>
            </a:r>
            <a:r>
              <a:rPr lang="es-ES" dirty="0" err="1"/>
              <a:t>optuna</a:t>
            </a:r>
            <a:r>
              <a:rPr lang="es-ES" dirty="0"/>
              <a:t>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9654041-D0CB-6F60-2CA2-529C7C803A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3017"/>
            <a:ext cx="7181088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s-ES" dirty="0"/>
          </a:p>
          <a:p>
            <a:r>
              <a:rPr lang="es-ES" dirty="0"/>
              <a:t>Realizamos una optimización bayesiana para ambos modelos tanto de </a:t>
            </a:r>
            <a:r>
              <a:rPr lang="es-ES" dirty="0" err="1"/>
              <a:t>economy</a:t>
            </a:r>
            <a:r>
              <a:rPr lang="es-ES" dirty="0"/>
              <a:t> como </a:t>
            </a:r>
            <a:r>
              <a:rPr lang="es-ES" dirty="0" err="1"/>
              <a:t>business</a:t>
            </a:r>
            <a:r>
              <a:rPr lang="es-ES" dirty="0"/>
              <a:t>. Con o siguientes </a:t>
            </a:r>
            <a:r>
              <a:rPr lang="es-ES" dirty="0" err="1"/>
              <a:t>hiperparametros</a:t>
            </a:r>
            <a:r>
              <a:rPr lang="es-ES" dirty="0"/>
              <a:t>:</a:t>
            </a:r>
          </a:p>
          <a:p>
            <a:r>
              <a:rPr lang="es-ES" dirty="0" err="1"/>
              <a:t>n_estimators</a:t>
            </a:r>
            <a:r>
              <a:rPr lang="es-ES" dirty="0"/>
              <a:t>":       </a:t>
            </a:r>
          </a:p>
          <a:p>
            <a:r>
              <a:rPr lang="es-ES" dirty="0" err="1"/>
              <a:t>max_depth</a:t>
            </a:r>
            <a:r>
              <a:rPr lang="es-ES" dirty="0"/>
              <a:t>":</a:t>
            </a:r>
          </a:p>
          <a:p>
            <a:r>
              <a:rPr lang="es-ES" dirty="0" err="1"/>
              <a:t>learning_rate</a:t>
            </a:r>
            <a:r>
              <a:rPr lang="es-ES" dirty="0"/>
              <a:t>":       </a:t>
            </a:r>
          </a:p>
          <a:p>
            <a:r>
              <a:rPr lang="es-ES" dirty="0"/>
              <a:t> </a:t>
            </a:r>
            <a:r>
              <a:rPr lang="es-ES" dirty="0" err="1"/>
              <a:t>subsample</a:t>
            </a:r>
            <a:r>
              <a:rPr lang="es-ES" dirty="0"/>
              <a:t>":       </a:t>
            </a:r>
          </a:p>
          <a:p>
            <a:r>
              <a:rPr lang="es-ES" dirty="0" err="1"/>
              <a:t>colsample_bytree</a:t>
            </a:r>
            <a:r>
              <a:rPr lang="es-ES" dirty="0"/>
              <a:t>":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054AA71-A5D9-95B9-060B-88C2C799D5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6074" y="0"/>
            <a:ext cx="3875926" cy="1966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70010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B0DC3C-E530-BB11-0DA9-B45C309D8F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Conclusiones</a:t>
            </a:r>
          </a:p>
        </p:txBody>
      </p:sp>
      <p:graphicFrame>
        <p:nvGraphicFramePr>
          <p:cNvPr id="5" name="Marcador de contenido 4">
            <a:extLst>
              <a:ext uri="{FF2B5EF4-FFF2-40B4-BE49-F238E27FC236}">
                <a16:creationId xmlns:a16="http://schemas.microsoft.com/office/drawing/2014/main" id="{B7C7A974-BE7A-7A11-665E-E24F65B002A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67286951"/>
              </p:ext>
            </p:extLst>
          </p:nvPr>
        </p:nvGraphicFramePr>
        <p:xfrm>
          <a:off x="838200" y="2264536"/>
          <a:ext cx="10515600" cy="35470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442546533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536722423"/>
                    </a:ext>
                  </a:extLst>
                </a:gridCol>
              </a:tblGrid>
              <a:tr h="406708">
                <a:tc>
                  <a:txBody>
                    <a:bodyPr/>
                    <a:lstStyle/>
                    <a:p>
                      <a:r>
                        <a:rPr lang="es-ES" dirty="0" err="1"/>
                        <a:t>Economy</a:t>
                      </a:r>
                      <a:r>
                        <a:rPr lang="es-ES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Business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4350074"/>
                  </a:ext>
                </a:extLst>
              </a:tr>
              <a:tr h="40670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dirty="0">
                          <a:effectLst/>
                        </a:rPr>
                        <a:t>División 80% </a:t>
                      </a:r>
                      <a:r>
                        <a:rPr lang="es-ES" dirty="0" err="1">
                          <a:effectLst/>
                        </a:rPr>
                        <a:t>train</a:t>
                      </a:r>
                      <a:r>
                        <a:rPr lang="es-ES" dirty="0">
                          <a:effectLst/>
                        </a:rPr>
                        <a:t> / 20% test.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División 80% </a:t>
                      </a:r>
                      <a:r>
                        <a:rPr lang="es-ES" dirty="0" err="1"/>
                        <a:t>train</a:t>
                      </a:r>
                      <a:r>
                        <a:rPr lang="es-ES" dirty="0"/>
                        <a:t> / 20% test.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8219090"/>
                  </a:ext>
                </a:extLst>
              </a:tr>
              <a:tr h="406708">
                <a:tc>
                  <a:txBody>
                    <a:bodyPr/>
                    <a:lstStyle/>
                    <a:p>
                      <a:r>
                        <a:rPr lang="es-ES" dirty="0"/>
                        <a:t>Validación cruzada sobre el 80% de entrenamiento.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Validación cruzada sobre el 80% de entrenamiento.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7122357"/>
                  </a:ext>
                </a:extLst>
              </a:tr>
              <a:tr h="406708">
                <a:tc>
                  <a:txBody>
                    <a:bodyPr/>
                    <a:lstStyle/>
                    <a:p>
                      <a:r>
                        <a:rPr lang="es-ES" b="1" dirty="0" err="1">
                          <a:effectLst/>
                        </a:rPr>
                        <a:t>XGBoost</a:t>
                      </a:r>
                      <a:r>
                        <a:rPr lang="es-ES" b="1" dirty="0">
                          <a:effectLst/>
                        </a:rPr>
                        <a:t> base:</a:t>
                      </a:r>
                      <a:r>
                        <a:rPr lang="es-ES" dirty="0"/>
                        <a:t> RMSE = </a:t>
                      </a:r>
                      <a:r>
                        <a:rPr lang="es-ES" b="1" dirty="0">
                          <a:effectLst/>
                        </a:rPr>
                        <a:t>1771 INR</a:t>
                      </a:r>
                      <a:r>
                        <a:rPr lang="es-ES" dirty="0"/>
                        <a:t> (~17€).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b="1" dirty="0">
                          <a:effectLst/>
                        </a:rPr>
                        <a:t>Modelos base:</a:t>
                      </a:r>
                      <a:r>
                        <a:rPr lang="es-ES" dirty="0"/>
                        <a:t> RF = 8811, LGBM = 6715, XGB = </a:t>
                      </a:r>
                      <a:r>
                        <a:rPr lang="es-ES" b="1" dirty="0">
                          <a:effectLst/>
                        </a:rPr>
                        <a:t>5536 INR</a:t>
                      </a:r>
                      <a:r>
                        <a:rPr lang="es-ES" dirty="0"/>
                        <a:t> (~52€).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6701576"/>
                  </a:ext>
                </a:extLst>
              </a:tr>
              <a:tr h="382852">
                <a:tc>
                  <a:txBody>
                    <a:bodyPr/>
                    <a:lstStyle/>
                    <a:p>
                      <a:r>
                        <a:rPr lang="es-ES" b="1" dirty="0" err="1">
                          <a:effectLst/>
                        </a:rPr>
                        <a:t>XGBoost</a:t>
                      </a:r>
                      <a:r>
                        <a:rPr lang="es-ES" b="1" dirty="0">
                          <a:effectLst/>
                        </a:rPr>
                        <a:t> optimizado (</a:t>
                      </a:r>
                      <a:r>
                        <a:rPr lang="es-ES" b="1" dirty="0" err="1">
                          <a:effectLst/>
                        </a:rPr>
                        <a:t>Optuna</a:t>
                      </a:r>
                      <a:r>
                        <a:rPr lang="es-ES" b="1" dirty="0">
                          <a:effectLst/>
                        </a:rPr>
                        <a:t>):</a:t>
                      </a:r>
                      <a:r>
                        <a:rPr lang="es-ES" dirty="0"/>
                        <a:t> RMSE CV = </a:t>
                      </a:r>
                      <a:r>
                        <a:rPr lang="es-ES" b="1" dirty="0">
                          <a:effectLst/>
                        </a:rPr>
                        <a:t>1377 INR</a:t>
                      </a:r>
                      <a:r>
                        <a:rPr lang="es-ES" dirty="0"/>
                        <a:t> (~13€).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b="1" dirty="0" err="1">
                          <a:effectLst/>
                        </a:rPr>
                        <a:t>XGBoost</a:t>
                      </a:r>
                      <a:r>
                        <a:rPr lang="es-ES" b="1" dirty="0">
                          <a:effectLst/>
                        </a:rPr>
                        <a:t> optimizado (</a:t>
                      </a:r>
                      <a:r>
                        <a:rPr lang="es-ES" b="1" dirty="0" err="1">
                          <a:effectLst/>
                        </a:rPr>
                        <a:t>Optuna</a:t>
                      </a:r>
                      <a:r>
                        <a:rPr lang="es-ES" b="1" dirty="0">
                          <a:effectLst/>
                        </a:rPr>
                        <a:t>):</a:t>
                      </a:r>
                      <a:r>
                        <a:rPr lang="es-ES" dirty="0"/>
                        <a:t> RMSE CV = </a:t>
                      </a:r>
                      <a:r>
                        <a:rPr lang="es-ES" b="1" dirty="0">
                          <a:effectLst/>
                        </a:rPr>
                        <a:t>3931 INR</a:t>
                      </a:r>
                      <a:r>
                        <a:rPr lang="es-ES" dirty="0"/>
                        <a:t> (~37€).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2312116"/>
                  </a:ext>
                </a:extLst>
              </a:tr>
              <a:tr h="406708">
                <a:tc>
                  <a:txBody>
                    <a:bodyPr/>
                    <a:lstStyle/>
                    <a:p>
                      <a:r>
                        <a:rPr lang="en-US" b="1" dirty="0">
                          <a:effectLst/>
                        </a:rPr>
                        <a:t>Test final:</a:t>
                      </a:r>
                      <a:r>
                        <a:rPr lang="en-US" dirty="0"/>
                        <a:t> RMSE = </a:t>
                      </a:r>
                      <a:r>
                        <a:rPr lang="en-US" b="1" dirty="0">
                          <a:effectLst/>
                        </a:rPr>
                        <a:t>1329 INR</a:t>
                      </a:r>
                      <a:r>
                        <a:rPr lang="en-US" dirty="0"/>
                        <a:t> (~13€).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effectLst/>
                        </a:rPr>
                        <a:t>Test final:</a:t>
                      </a:r>
                      <a:r>
                        <a:rPr lang="en-US" dirty="0"/>
                        <a:t> RMSE = </a:t>
                      </a:r>
                      <a:r>
                        <a:rPr lang="en-US" b="1" dirty="0">
                          <a:effectLst/>
                        </a:rPr>
                        <a:t>3786 INR</a:t>
                      </a:r>
                      <a:r>
                        <a:rPr lang="en-US" dirty="0"/>
                        <a:t> (~36€).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770435"/>
                  </a:ext>
                </a:extLst>
              </a:tr>
              <a:tr h="406708">
                <a:tc>
                  <a:txBody>
                    <a:bodyPr/>
                    <a:lstStyle/>
                    <a:p>
                      <a:r>
                        <a:rPr lang="es-ES" b="1" dirty="0">
                          <a:effectLst/>
                        </a:rPr>
                        <a:t>Conclusión:</a:t>
                      </a:r>
                      <a:r>
                        <a:rPr lang="es-ES" dirty="0"/>
                        <a:t> CV y test muy similares → </a:t>
                      </a:r>
                      <a:r>
                        <a:rPr lang="es-ES" b="1" dirty="0">
                          <a:effectLst/>
                        </a:rPr>
                        <a:t>excelente generalización</a:t>
                      </a:r>
                      <a:r>
                        <a:rPr lang="es-ES" dirty="0"/>
                        <a:t>, sin </a:t>
                      </a:r>
                      <a:r>
                        <a:rPr lang="es-ES" dirty="0" err="1"/>
                        <a:t>overfitting</a:t>
                      </a:r>
                      <a:r>
                        <a:rPr lang="es-ES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b="1" dirty="0">
                          <a:effectLst/>
                        </a:rPr>
                        <a:t>Conclusión:</a:t>
                      </a:r>
                      <a:r>
                        <a:rPr lang="es-ES" dirty="0"/>
                        <a:t> CV y test muy próximos → </a:t>
                      </a:r>
                      <a:r>
                        <a:rPr lang="es-ES" b="1" dirty="0">
                          <a:effectLst/>
                        </a:rPr>
                        <a:t>modelo robusto</a:t>
                      </a:r>
                      <a:r>
                        <a:rPr lang="es-ES" dirty="0"/>
                        <a:t> pese a la alta variabilidad de Business.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0141643"/>
                  </a:ext>
                </a:extLst>
              </a:tr>
            </a:tbl>
          </a:graphicData>
        </a:graphic>
      </p:graphicFrame>
      <p:pic>
        <p:nvPicPr>
          <p:cNvPr id="4" name="Imagen 3">
            <a:extLst>
              <a:ext uri="{FF2B5EF4-FFF2-40B4-BE49-F238E27FC236}">
                <a16:creationId xmlns:a16="http://schemas.microsoft.com/office/drawing/2014/main" id="{EFE21C33-14C6-1384-783A-44D3B10DA5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6074" y="0"/>
            <a:ext cx="3875926" cy="1966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63625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0198DE-264F-3BFF-5A4B-6EC0895D3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Clasificación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F64AE3D-91D8-AEAB-C784-1A5B251FC5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635421E-1792-F50D-3EE6-677D38D8E9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6074" y="0"/>
            <a:ext cx="3875926" cy="1966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781846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</TotalTime>
  <Words>579</Words>
  <Application>Microsoft Office PowerPoint</Application>
  <PresentationFormat>Panorámica</PresentationFormat>
  <Paragraphs>70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Tema de Office</vt:lpstr>
      <vt:lpstr>Presentación de PowerPoint</vt:lpstr>
      <vt:lpstr>Problema de negocio</vt:lpstr>
      <vt:lpstr>Datos disponibles</vt:lpstr>
      <vt:lpstr>Limpieza de datos(ETL)</vt:lpstr>
      <vt:lpstr>Elección de dos modelos de Machine Learning</vt:lpstr>
      <vt:lpstr>Selección de features categoricas</vt:lpstr>
      <vt:lpstr>Selección de features numéricas</vt:lpstr>
      <vt:lpstr>Machine Learning </vt:lpstr>
      <vt:lpstr>Tratamiento de features</vt:lpstr>
      <vt:lpstr>Machine Learning </vt:lpstr>
      <vt:lpstr>Optimizacion optuna </vt:lpstr>
      <vt:lpstr>Conclusiones</vt:lpstr>
      <vt:lpstr>Clasificación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Cesar Sanchez</dc:creator>
  <cp:lastModifiedBy>Cesar Sanchez</cp:lastModifiedBy>
  <cp:revision>7</cp:revision>
  <dcterms:created xsi:type="dcterms:W3CDTF">2026-03-04T12:22:27Z</dcterms:created>
  <dcterms:modified xsi:type="dcterms:W3CDTF">2026-03-04T14:04:52Z</dcterms:modified>
</cp:coreProperties>
</file>