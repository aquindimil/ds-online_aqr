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0" autoAdjust="0"/>
    <p:restoredTop sz="94660"/>
  </p:normalViewPr>
  <p:slideViewPr>
    <p:cSldViewPr snapToGrid="0">
      <p:cViewPr>
        <p:scale>
          <a:sx n="70" d="100"/>
          <a:sy n="70" d="100"/>
        </p:scale>
        <p:origin x="180" y="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8FA67-5C71-9210-00EE-28462D7C6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164952-CE78-224E-C5E0-8FE295D72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B10DE-FCE6-8953-2BC2-D07CF04B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3ED937-7ADD-12D3-08E5-175196D8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82A9A1-DC40-F06C-D8BC-FE1EF473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95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903DA-F343-5A6C-E76C-8D353A73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87703-0735-5CC6-A8E5-65E3FB59B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CA6F07-825B-A695-D72D-5B1BA92F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BB801-DF20-54B1-910D-8DBFE712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DB1F00-02CD-C174-0DCC-0918D4E3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33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6B06D-E6F2-9F39-22C4-8C534E4B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024A4A-70AB-8416-EDC2-3253F4875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B4205F-A602-7FED-F857-80E9FD4C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3CF7B2-56D6-19FF-422D-B6887729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F2AE12-536B-1173-53B5-E6F3DEA3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76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E43BB-A642-A3D9-2DD0-678291C2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2E81B9-DBA9-5566-A337-910A7A7FF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30DB7C-1489-D5F0-0B24-25B75A61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84B4E9-FF6E-0630-6900-6EB5E189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751867-39DE-D591-E057-4089FA35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F0B9A2-FE5F-7334-7914-88E02BD9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13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088E2-1D41-A421-7768-A4817756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E31B9D-EA99-0394-2B97-6F6A61C1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E8730F-313B-2F89-2B05-D5FB48E12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CAD169-F94C-2DF3-0E71-C086E0D69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919440-8D2D-0C7B-CD1B-16E80BC1B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EC859F-41DB-33E0-F3AF-649E84F1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679E02-0056-EF91-C620-39680B52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5A8D25-AE14-A6BF-A798-3946477C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154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1723C-C0C8-8237-7732-59AB38E3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19B3C3-2215-601D-ACCC-6D8E0A9B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94AB83-D44F-BB03-7C08-326BA216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0A8BC0-BBFD-926A-F1DB-37D2B786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31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891E7D-AD51-6A9B-15E0-D001B964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EF34B2-B8AF-E39D-A59D-49182E85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D29944-9F4B-7846-E856-1615A04A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69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359D1-CA1D-9AB0-23C8-F22A9E33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229A9-CB1B-B836-7506-3A62649E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EE079A-054D-3098-EB2F-02000D18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BF5056-36A4-FE2A-F30D-804D1FFD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145F51-91E4-F20C-97AB-DE34BDA1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399B52-BAF8-E611-3EDD-AEFC1305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09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C9975-F067-D8C6-6413-EF311BAF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8A7942-376A-629D-0DD3-0C77313BB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983D6D-2FA0-3AA0-1B54-32AD47C16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21B49-7982-9364-6919-8B54A28B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0F9DAE-B210-22F8-0745-E1257842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517B32-24E9-ED85-1D40-366AB616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69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10BC8-FAC4-FFA1-9C4D-5AEE133E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63656A-B5B5-1D40-3330-99342971B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139445-8EEA-05E6-0334-2EE2A13D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10783E-E6E1-5603-E845-0181C2C4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8AD707-15B1-7BF9-5059-B53212D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5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808686-AF20-CE9A-AFB4-8AB7B69E1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369F7A-8C68-F5EC-DD88-A2ECB24FD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61FA4D-C587-3B4F-2505-10FE81A6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0EC7B5-2C66-4A15-B6D7-7C880A84B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4E7DC-4E76-D8EA-AA89-9E01E0B8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256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DCC282-58FB-E9E4-9FF8-646E06D7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B33715-D436-252C-D162-3B4E5E0AC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EA499B-9C70-1177-174A-27E8DE9F5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B02FD-7A91-465A-ACC4-95E012648AA5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562CA7-F14F-4BD4-33CF-517FFEF36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218C49-58DF-2DE7-28AB-E6E903369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B591F-C6C5-481F-9770-D67AF14DD6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204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314D23F4-D764-E34D-B05F-B9D171346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52B498-7EFC-9CF9-F0BE-3A245E68D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 CHALLENGE 1	(GRUPO 2)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31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o 65">
            <a:extLst>
              <a:ext uri="{FF2B5EF4-FFF2-40B4-BE49-F238E27FC236}">
                <a16:creationId xmlns:a16="http://schemas.microsoft.com/office/drawing/2014/main" id="{3E153879-128A-38AB-1DAD-8E89ABD3B05F}"/>
              </a:ext>
            </a:extLst>
          </p:cNvPr>
          <p:cNvGrpSpPr/>
          <p:nvPr/>
        </p:nvGrpSpPr>
        <p:grpSpPr>
          <a:xfrm>
            <a:off x="4421812" y="1501257"/>
            <a:ext cx="7097964" cy="5116403"/>
            <a:chOff x="4421812" y="1228300"/>
            <a:chExt cx="7097964" cy="5116403"/>
          </a:xfrm>
        </p:grpSpPr>
        <p:sp>
          <p:nvSpPr>
            <p:cNvPr id="2" name="Diagrama de flujo: decisión 1">
              <a:extLst>
                <a:ext uri="{FF2B5EF4-FFF2-40B4-BE49-F238E27FC236}">
                  <a16:creationId xmlns:a16="http://schemas.microsoft.com/office/drawing/2014/main" id="{1700F857-5673-BC36-8ECE-27F9932FE48B}"/>
                </a:ext>
              </a:extLst>
            </p:cNvPr>
            <p:cNvSpPr/>
            <p:nvPr/>
          </p:nvSpPr>
          <p:spPr>
            <a:xfrm>
              <a:off x="7031508" y="1228300"/>
              <a:ext cx="1856096" cy="1035728"/>
            </a:xfrm>
            <a:prstGeom prst="flowChartDecision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Turno</a:t>
              </a:r>
              <a:br>
                <a:rPr lang="es-ES" dirty="0">
                  <a:solidFill>
                    <a:schemeClr val="tx1"/>
                  </a:solidFill>
                </a:rPr>
              </a:br>
              <a:r>
                <a:rPr lang="es-ES" dirty="0">
                  <a:solidFill>
                    <a:schemeClr val="tx1"/>
                  </a:solidFill>
                </a:rPr>
                <a:t>jugador</a:t>
              </a:r>
            </a:p>
          </p:txBody>
        </p:sp>
        <p:sp>
          <p:nvSpPr>
            <p:cNvPr id="3" name="Diagrama de flujo: proceso 2">
              <a:extLst>
                <a:ext uri="{FF2B5EF4-FFF2-40B4-BE49-F238E27FC236}">
                  <a16:creationId xmlns:a16="http://schemas.microsoft.com/office/drawing/2014/main" id="{1FE016E0-D65E-5F16-2032-BC72A920CC01}"/>
                </a:ext>
              </a:extLst>
            </p:cNvPr>
            <p:cNvSpPr/>
            <p:nvPr/>
          </p:nvSpPr>
          <p:spPr>
            <a:xfrm>
              <a:off x="5370597" y="2383033"/>
              <a:ext cx="1872000" cy="612648"/>
            </a:xfrm>
            <a:prstGeom prst="flowChartProcess">
              <a:avLst/>
            </a:prstGeom>
            <a:solidFill>
              <a:schemeClr val="bg1"/>
            </a:solidFill>
            <a:ln w="317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Jugador dispara</a:t>
              </a:r>
            </a:p>
          </p:txBody>
        </p:sp>
        <p:sp>
          <p:nvSpPr>
            <p:cNvPr id="4" name="Diagrama de flujo: proceso 3">
              <a:extLst>
                <a:ext uri="{FF2B5EF4-FFF2-40B4-BE49-F238E27FC236}">
                  <a16:creationId xmlns:a16="http://schemas.microsoft.com/office/drawing/2014/main" id="{A1BF165E-4191-33F5-9E50-B06AAA1A1ED9}"/>
                </a:ext>
              </a:extLst>
            </p:cNvPr>
            <p:cNvSpPr/>
            <p:nvPr/>
          </p:nvSpPr>
          <p:spPr>
            <a:xfrm>
              <a:off x="8676516" y="2383033"/>
              <a:ext cx="1872000" cy="612648"/>
            </a:xfrm>
            <a:prstGeom prst="flowChartProcess">
              <a:avLst/>
            </a:prstGeom>
            <a:solidFill>
              <a:schemeClr val="bg1"/>
            </a:solidFill>
            <a:ln w="317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Máquina dispara</a:t>
              </a:r>
            </a:p>
          </p:txBody>
        </p:sp>
        <p:sp>
          <p:nvSpPr>
            <p:cNvPr id="5" name="Diagrama de flujo: decisión 4">
              <a:extLst>
                <a:ext uri="{FF2B5EF4-FFF2-40B4-BE49-F238E27FC236}">
                  <a16:creationId xmlns:a16="http://schemas.microsoft.com/office/drawing/2014/main" id="{7D6C197F-55B5-8725-3F2E-6183822594DD}"/>
                </a:ext>
              </a:extLst>
            </p:cNvPr>
            <p:cNvSpPr/>
            <p:nvPr/>
          </p:nvSpPr>
          <p:spPr>
            <a:xfrm>
              <a:off x="5190597" y="3348712"/>
              <a:ext cx="2232000" cy="900000"/>
            </a:xfrm>
            <a:prstGeom prst="flowChartDecision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¿Acierto?</a:t>
              </a:r>
            </a:p>
          </p:txBody>
        </p:sp>
        <p:sp>
          <p:nvSpPr>
            <p:cNvPr id="6" name="Diagrama de flujo: decisión 5">
              <a:extLst>
                <a:ext uri="{FF2B5EF4-FFF2-40B4-BE49-F238E27FC236}">
                  <a16:creationId xmlns:a16="http://schemas.microsoft.com/office/drawing/2014/main" id="{21B55689-7DD3-95AB-2FAC-4FDD82D8DADA}"/>
                </a:ext>
              </a:extLst>
            </p:cNvPr>
            <p:cNvSpPr/>
            <p:nvPr/>
          </p:nvSpPr>
          <p:spPr>
            <a:xfrm>
              <a:off x="8496516" y="3348712"/>
              <a:ext cx="2232000" cy="900000"/>
            </a:xfrm>
            <a:prstGeom prst="flowChartDecision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¿Acierto?</a:t>
              </a:r>
            </a:p>
          </p:txBody>
        </p:sp>
        <p:sp>
          <p:nvSpPr>
            <p:cNvPr id="7" name="Diagrama de flujo: proceso 6">
              <a:extLst>
                <a:ext uri="{FF2B5EF4-FFF2-40B4-BE49-F238E27FC236}">
                  <a16:creationId xmlns:a16="http://schemas.microsoft.com/office/drawing/2014/main" id="{23CA0410-CEED-B68A-2AD2-9F2626D05F38}"/>
                </a:ext>
              </a:extLst>
            </p:cNvPr>
            <p:cNvSpPr/>
            <p:nvPr/>
          </p:nvSpPr>
          <p:spPr>
            <a:xfrm>
              <a:off x="5190597" y="4712411"/>
              <a:ext cx="2232000" cy="612648"/>
            </a:xfrm>
            <a:prstGeom prst="flowChartProcess">
              <a:avLst/>
            </a:prstGeom>
            <a:solidFill>
              <a:schemeClr val="bg1"/>
            </a:solidFill>
            <a:ln w="317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¿Vidas máquina = 0?</a:t>
              </a:r>
            </a:p>
          </p:txBody>
        </p:sp>
        <p:sp>
          <p:nvSpPr>
            <p:cNvPr id="8" name="Diagrama de flujo: proceso 7">
              <a:extLst>
                <a:ext uri="{FF2B5EF4-FFF2-40B4-BE49-F238E27FC236}">
                  <a16:creationId xmlns:a16="http://schemas.microsoft.com/office/drawing/2014/main" id="{F763B209-AAEF-6D76-E1C1-6189F6D131CC}"/>
                </a:ext>
              </a:extLst>
            </p:cNvPr>
            <p:cNvSpPr/>
            <p:nvPr/>
          </p:nvSpPr>
          <p:spPr>
            <a:xfrm>
              <a:off x="8496516" y="4712411"/>
              <a:ext cx="2232000" cy="612648"/>
            </a:xfrm>
            <a:prstGeom prst="flowChartProcess">
              <a:avLst/>
            </a:prstGeom>
            <a:solidFill>
              <a:schemeClr val="bg1"/>
            </a:solidFill>
            <a:ln w="317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¿Vidas jugador = 0?</a:t>
              </a:r>
            </a:p>
          </p:txBody>
        </p:sp>
        <p:cxnSp>
          <p:nvCxnSpPr>
            <p:cNvPr id="13" name="Conector: angular 12">
              <a:extLst>
                <a:ext uri="{FF2B5EF4-FFF2-40B4-BE49-F238E27FC236}">
                  <a16:creationId xmlns:a16="http://schemas.microsoft.com/office/drawing/2014/main" id="{88EC9D5A-5F12-35B6-669B-9B95B4ADD0EC}"/>
                </a:ext>
              </a:extLst>
            </p:cNvPr>
            <p:cNvCxnSpPr>
              <a:cxnSpLocks/>
              <a:stCxn id="2" idx="1"/>
              <a:endCxn id="3" idx="0"/>
            </p:cNvCxnSpPr>
            <p:nvPr/>
          </p:nvCxnSpPr>
          <p:spPr>
            <a:xfrm rot="10800000" flipV="1">
              <a:off x="6306598" y="1746163"/>
              <a:ext cx="724911" cy="636869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: angular 15">
              <a:extLst>
                <a:ext uri="{FF2B5EF4-FFF2-40B4-BE49-F238E27FC236}">
                  <a16:creationId xmlns:a16="http://schemas.microsoft.com/office/drawing/2014/main" id="{582E1524-0475-0BA6-5CA7-2299F7256D43}"/>
                </a:ext>
              </a:extLst>
            </p:cNvPr>
            <p:cNvCxnSpPr>
              <a:cxnSpLocks/>
              <a:stCxn id="2" idx="3"/>
              <a:endCxn id="4" idx="0"/>
            </p:cNvCxnSpPr>
            <p:nvPr/>
          </p:nvCxnSpPr>
          <p:spPr>
            <a:xfrm>
              <a:off x="8887604" y="1746164"/>
              <a:ext cx="724912" cy="636869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42EC6CEE-2237-62C9-3F46-A3BC29984AE7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>
              <a:off x="6306597" y="2995681"/>
              <a:ext cx="0" cy="35303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317C07EF-A537-263D-B7C1-3E4366536FA2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9612516" y="2995681"/>
              <a:ext cx="0" cy="35303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6CA791B3-67E4-E2F4-F94F-69D631C51C5A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6306597" y="4248712"/>
              <a:ext cx="0" cy="463699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977B8EDA-9920-8CD1-42B6-5A34C4727526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9612516" y="4248712"/>
              <a:ext cx="0" cy="463699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grama de flujo: proceso alternativo 29">
              <a:extLst>
                <a:ext uri="{FF2B5EF4-FFF2-40B4-BE49-F238E27FC236}">
                  <a16:creationId xmlns:a16="http://schemas.microsoft.com/office/drawing/2014/main" id="{AB98C575-2E5C-4166-DC21-901F1ECBD6E4}"/>
                </a:ext>
              </a:extLst>
            </p:cNvPr>
            <p:cNvSpPr/>
            <p:nvPr/>
          </p:nvSpPr>
          <p:spPr>
            <a:xfrm>
              <a:off x="7375317" y="5732055"/>
              <a:ext cx="1168478" cy="612648"/>
            </a:xfrm>
            <a:prstGeom prst="flowChartAlternateProcess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F44C9C25-F83C-5DB8-6194-DDB990520470}"/>
                </a:ext>
              </a:extLst>
            </p:cNvPr>
            <p:cNvSpPr txBox="1"/>
            <p:nvPr/>
          </p:nvSpPr>
          <p:spPr>
            <a:xfrm>
              <a:off x="6353063" y="428234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Si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0E7E67E9-2759-4DB5-0CE1-EDDE266E4C19}"/>
                </a:ext>
              </a:extLst>
            </p:cNvPr>
            <p:cNvSpPr txBox="1"/>
            <p:nvPr/>
          </p:nvSpPr>
          <p:spPr>
            <a:xfrm>
              <a:off x="9658096" y="4251144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Si</a:t>
              </a:r>
            </a:p>
          </p:txBody>
        </p:sp>
        <p:cxnSp>
          <p:nvCxnSpPr>
            <p:cNvPr id="34" name="Conector: angular 33">
              <a:extLst>
                <a:ext uri="{FF2B5EF4-FFF2-40B4-BE49-F238E27FC236}">
                  <a16:creationId xmlns:a16="http://schemas.microsoft.com/office/drawing/2014/main" id="{17D16C38-05F4-E33E-7E25-487A45E647A1}"/>
                </a:ext>
              </a:extLst>
            </p:cNvPr>
            <p:cNvCxnSpPr>
              <a:cxnSpLocks/>
              <a:stCxn id="7" idx="2"/>
              <a:endCxn id="30" idx="1"/>
            </p:cNvCxnSpPr>
            <p:nvPr/>
          </p:nvCxnSpPr>
          <p:spPr>
            <a:xfrm rot="16200000" flipH="1">
              <a:off x="6484297" y="5147359"/>
              <a:ext cx="713320" cy="1068720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: angular 37">
              <a:extLst>
                <a:ext uri="{FF2B5EF4-FFF2-40B4-BE49-F238E27FC236}">
                  <a16:creationId xmlns:a16="http://schemas.microsoft.com/office/drawing/2014/main" id="{2F5E541D-8FFC-6124-744A-8019E2A7C9A5}"/>
                </a:ext>
              </a:extLst>
            </p:cNvPr>
            <p:cNvCxnSpPr>
              <a:cxnSpLocks/>
              <a:stCxn id="8" idx="2"/>
              <a:endCxn id="30" idx="3"/>
            </p:cNvCxnSpPr>
            <p:nvPr/>
          </p:nvCxnSpPr>
          <p:spPr>
            <a:xfrm rot="5400000">
              <a:off x="8721496" y="5147359"/>
              <a:ext cx="713320" cy="1068721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250494CA-8533-F4F8-FC41-531D3603A9A9}"/>
                </a:ext>
              </a:extLst>
            </p:cNvPr>
            <p:cNvSpPr txBox="1"/>
            <p:nvPr/>
          </p:nvSpPr>
          <p:spPr>
            <a:xfrm>
              <a:off x="6353063" y="5470301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Si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5A0AB16-16B9-1B92-5892-9A6D04EDB829}"/>
                </a:ext>
              </a:extLst>
            </p:cNvPr>
            <p:cNvSpPr txBox="1"/>
            <p:nvPr/>
          </p:nvSpPr>
          <p:spPr>
            <a:xfrm>
              <a:off x="9658096" y="5456653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Si</a:t>
              </a:r>
            </a:p>
          </p:txBody>
        </p: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0410EFB7-D104-DA1F-CFCC-F9A8FF35BCE5}"/>
                </a:ext>
              </a:extLst>
            </p:cNvPr>
            <p:cNvCxnSpPr>
              <a:cxnSpLocks/>
              <a:stCxn id="5" idx="3"/>
              <a:endCxn id="4" idx="1"/>
            </p:cNvCxnSpPr>
            <p:nvPr/>
          </p:nvCxnSpPr>
          <p:spPr>
            <a:xfrm flipV="1">
              <a:off x="7422597" y="2689357"/>
              <a:ext cx="1253919" cy="110935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02AA8EDC-AEB2-E804-8413-05986E17639B}"/>
                </a:ext>
              </a:extLst>
            </p:cNvPr>
            <p:cNvSpPr txBox="1"/>
            <p:nvPr/>
          </p:nvSpPr>
          <p:spPr>
            <a:xfrm>
              <a:off x="7258315" y="3879990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No</a:t>
              </a:r>
            </a:p>
          </p:txBody>
        </p: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30A6D3F0-4618-5598-1596-D39E7C42264E}"/>
                </a:ext>
              </a:extLst>
            </p:cNvPr>
            <p:cNvCxnSpPr>
              <a:cxnSpLocks/>
              <a:stCxn id="6" idx="1"/>
              <a:endCxn id="3" idx="3"/>
            </p:cNvCxnSpPr>
            <p:nvPr/>
          </p:nvCxnSpPr>
          <p:spPr>
            <a:xfrm flipH="1" flipV="1">
              <a:off x="7242597" y="2689357"/>
              <a:ext cx="1253919" cy="1109355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47D7DD02-7E29-9BE9-6144-58EF8A7D92DD}"/>
                </a:ext>
              </a:extLst>
            </p:cNvPr>
            <p:cNvSpPr txBox="1"/>
            <p:nvPr/>
          </p:nvSpPr>
          <p:spPr>
            <a:xfrm>
              <a:off x="8184298" y="3879990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No</a:t>
              </a:r>
            </a:p>
          </p:txBody>
        </p:sp>
        <p:cxnSp>
          <p:nvCxnSpPr>
            <p:cNvPr id="56" name="Conector: angular 55">
              <a:extLst>
                <a:ext uri="{FF2B5EF4-FFF2-40B4-BE49-F238E27FC236}">
                  <a16:creationId xmlns:a16="http://schemas.microsoft.com/office/drawing/2014/main" id="{6ABA681D-DA91-5BCC-D147-97CACBC5739C}"/>
                </a:ext>
              </a:extLst>
            </p:cNvPr>
            <p:cNvCxnSpPr>
              <a:cxnSpLocks/>
              <a:stCxn id="7" idx="1"/>
              <a:endCxn id="3" idx="1"/>
            </p:cNvCxnSpPr>
            <p:nvPr/>
          </p:nvCxnSpPr>
          <p:spPr>
            <a:xfrm rot="10800000" flipH="1">
              <a:off x="5190597" y="2689357"/>
              <a:ext cx="180000" cy="2329378"/>
            </a:xfrm>
            <a:prstGeom prst="bentConnector3">
              <a:avLst>
                <a:gd name="adj1" fmla="val -127000"/>
              </a:avLst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: angular 59">
              <a:extLst>
                <a:ext uri="{FF2B5EF4-FFF2-40B4-BE49-F238E27FC236}">
                  <a16:creationId xmlns:a16="http://schemas.microsoft.com/office/drawing/2014/main" id="{308D5280-362E-7485-4E51-6C55CB66531C}"/>
                </a:ext>
              </a:extLst>
            </p:cNvPr>
            <p:cNvCxnSpPr>
              <a:cxnSpLocks/>
              <a:stCxn id="8" idx="3"/>
              <a:endCxn id="4" idx="3"/>
            </p:cNvCxnSpPr>
            <p:nvPr/>
          </p:nvCxnSpPr>
          <p:spPr>
            <a:xfrm flipH="1" flipV="1">
              <a:off x="10548516" y="2689357"/>
              <a:ext cx="180000" cy="2329378"/>
            </a:xfrm>
            <a:prstGeom prst="bentConnector3">
              <a:avLst>
                <a:gd name="adj1" fmla="val -127000"/>
              </a:avLst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58CEB07F-65B0-3A71-FBCD-8ED20E812F7D}"/>
                </a:ext>
              </a:extLst>
            </p:cNvPr>
            <p:cNvSpPr txBox="1"/>
            <p:nvPr/>
          </p:nvSpPr>
          <p:spPr>
            <a:xfrm>
              <a:off x="4421812" y="3642083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No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516C3A21-8B94-5386-A20B-47B9E7520793}"/>
                </a:ext>
              </a:extLst>
            </p:cNvPr>
            <p:cNvSpPr txBox="1"/>
            <p:nvPr/>
          </p:nvSpPr>
          <p:spPr>
            <a:xfrm>
              <a:off x="11044966" y="3614788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No</a:t>
              </a: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999EED9-A900-5C10-9627-0BCBF5C9C65C}"/>
              </a:ext>
            </a:extLst>
          </p:cNvPr>
          <p:cNvGrpSpPr/>
          <p:nvPr/>
        </p:nvGrpSpPr>
        <p:grpSpPr>
          <a:xfrm>
            <a:off x="1211901" y="1749341"/>
            <a:ext cx="2503416" cy="4868319"/>
            <a:chOff x="1211901" y="1487607"/>
            <a:chExt cx="2503416" cy="4868319"/>
          </a:xfrm>
        </p:grpSpPr>
        <p:sp>
          <p:nvSpPr>
            <p:cNvPr id="67" name="Diagrama de flujo: terminador 66">
              <a:extLst>
                <a:ext uri="{FF2B5EF4-FFF2-40B4-BE49-F238E27FC236}">
                  <a16:creationId xmlns:a16="http://schemas.microsoft.com/office/drawing/2014/main" id="{0EAE8A3D-F380-F886-8011-0083D1DA2F80}"/>
                </a:ext>
              </a:extLst>
            </p:cNvPr>
            <p:cNvSpPr/>
            <p:nvPr/>
          </p:nvSpPr>
          <p:spPr>
            <a:xfrm>
              <a:off x="1822164" y="1487607"/>
              <a:ext cx="1282890" cy="720000"/>
            </a:xfrm>
            <a:prstGeom prst="flowChartTerminator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INICIO</a:t>
              </a:r>
            </a:p>
            <a:p>
              <a:pPr algn="ctr"/>
              <a:r>
                <a:rPr lang="es-ES" dirty="0">
                  <a:solidFill>
                    <a:schemeClr val="tx1"/>
                  </a:solidFill>
                </a:rPr>
                <a:t>(main.py)</a:t>
              </a:r>
            </a:p>
          </p:txBody>
        </p:sp>
        <p:sp>
          <p:nvSpPr>
            <p:cNvPr id="69" name="Diagrama de flujo: proceso alternativo 68">
              <a:extLst>
                <a:ext uri="{FF2B5EF4-FFF2-40B4-BE49-F238E27FC236}">
                  <a16:creationId xmlns:a16="http://schemas.microsoft.com/office/drawing/2014/main" id="{8936E26D-471F-E168-D123-0CAA56488F6C}"/>
                </a:ext>
              </a:extLst>
            </p:cNvPr>
            <p:cNvSpPr/>
            <p:nvPr/>
          </p:nvSpPr>
          <p:spPr>
            <a:xfrm>
              <a:off x="1317137" y="2659687"/>
              <a:ext cx="2292944" cy="756000"/>
            </a:xfrm>
            <a:prstGeom prst="flowChartAlternateProcess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Crear objeto juego</a:t>
              </a:r>
            </a:p>
            <a:p>
              <a:pPr algn="ctr"/>
              <a:r>
                <a:rPr lang="es-ES" dirty="0">
                  <a:solidFill>
                    <a:schemeClr val="tx1"/>
                  </a:solidFill>
                </a:rPr>
                <a:t>(</a:t>
              </a:r>
              <a:r>
                <a:rPr lang="es-ES" dirty="0" err="1">
                  <a:solidFill>
                    <a:schemeClr val="tx1"/>
                  </a:solidFill>
                </a:rPr>
                <a:t>ejec</a:t>
              </a:r>
              <a:r>
                <a:rPr lang="es-ES" dirty="0">
                  <a:solidFill>
                    <a:schemeClr val="tx1"/>
                  </a:solidFill>
                </a:rPr>
                <a:t>. </a:t>
              </a:r>
              <a:r>
                <a:rPr lang="es-ES" dirty="0" err="1">
                  <a:solidFill>
                    <a:schemeClr val="tx1"/>
                  </a:solidFill>
                </a:rPr>
                <a:t>juego.iniciar</a:t>
              </a:r>
              <a:r>
                <a:rPr lang="es-ES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71" name="Diagrama de flujo: proceso alternativo 70">
              <a:extLst>
                <a:ext uri="{FF2B5EF4-FFF2-40B4-BE49-F238E27FC236}">
                  <a16:creationId xmlns:a16="http://schemas.microsoft.com/office/drawing/2014/main" id="{E63779A7-F074-4E05-9FFB-847ADCED2A7C}"/>
                </a:ext>
              </a:extLst>
            </p:cNvPr>
            <p:cNvSpPr/>
            <p:nvPr/>
          </p:nvSpPr>
          <p:spPr>
            <a:xfrm>
              <a:off x="1221609" y="3867767"/>
              <a:ext cx="2484000" cy="540000"/>
            </a:xfrm>
            <a:prstGeom prst="flowChartAlternateProcess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Inicializar  barcos</a:t>
              </a:r>
            </a:p>
          </p:txBody>
        </p:sp>
        <p:sp>
          <p:nvSpPr>
            <p:cNvPr id="72" name="Diagrama de flujo: proceso alternativo 71">
              <a:extLst>
                <a:ext uri="{FF2B5EF4-FFF2-40B4-BE49-F238E27FC236}">
                  <a16:creationId xmlns:a16="http://schemas.microsoft.com/office/drawing/2014/main" id="{DE2765A7-7F64-2927-E000-616363BF80D0}"/>
                </a:ext>
              </a:extLst>
            </p:cNvPr>
            <p:cNvSpPr/>
            <p:nvPr/>
          </p:nvSpPr>
          <p:spPr>
            <a:xfrm>
              <a:off x="1211901" y="4859847"/>
              <a:ext cx="2503416" cy="540000"/>
            </a:xfrm>
            <a:prstGeom prst="flowChartAlternateProcess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Bucle de turnos</a:t>
              </a:r>
            </a:p>
          </p:txBody>
        </p:sp>
        <p:sp>
          <p:nvSpPr>
            <p:cNvPr id="73" name="Diagrama de flujo: terminador 72">
              <a:extLst>
                <a:ext uri="{FF2B5EF4-FFF2-40B4-BE49-F238E27FC236}">
                  <a16:creationId xmlns:a16="http://schemas.microsoft.com/office/drawing/2014/main" id="{E7BA9581-398F-697D-F039-BAEDEFDB89E5}"/>
                </a:ext>
              </a:extLst>
            </p:cNvPr>
            <p:cNvSpPr/>
            <p:nvPr/>
          </p:nvSpPr>
          <p:spPr>
            <a:xfrm>
              <a:off x="1822164" y="5851926"/>
              <a:ext cx="1282890" cy="504000"/>
            </a:xfrm>
            <a:prstGeom prst="flowChartTerminator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FIN</a:t>
              </a:r>
            </a:p>
          </p:txBody>
        </p: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38A2CD11-69A2-4496-DB62-A572E7923919}"/>
                </a:ext>
              </a:extLst>
            </p:cNvPr>
            <p:cNvCxnSpPr>
              <a:cxnSpLocks/>
              <a:stCxn id="67" idx="2"/>
              <a:endCxn id="69" idx="0"/>
            </p:cNvCxnSpPr>
            <p:nvPr/>
          </p:nvCxnSpPr>
          <p:spPr>
            <a:xfrm>
              <a:off x="2463609" y="2207607"/>
              <a:ext cx="0" cy="45208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de flecha 76">
              <a:extLst>
                <a:ext uri="{FF2B5EF4-FFF2-40B4-BE49-F238E27FC236}">
                  <a16:creationId xmlns:a16="http://schemas.microsoft.com/office/drawing/2014/main" id="{6A20013B-8A45-431A-AB8C-92628FBC6592}"/>
                </a:ext>
              </a:extLst>
            </p:cNvPr>
            <p:cNvCxnSpPr>
              <a:cxnSpLocks/>
              <a:stCxn id="69" idx="2"/>
              <a:endCxn id="71" idx="0"/>
            </p:cNvCxnSpPr>
            <p:nvPr/>
          </p:nvCxnSpPr>
          <p:spPr>
            <a:xfrm>
              <a:off x="2463609" y="3415687"/>
              <a:ext cx="0" cy="45208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de flecha 79">
              <a:extLst>
                <a:ext uri="{FF2B5EF4-FFF2-40B4-BE49-F238E27FC236}">
                  <a16:creationId xmlns:a16="http://schemas.microsoft.com/office/drawing/2014/main" id="{623DD052-E382-CDE4-76CA-8C106D2A0B4B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>
              <a:off x="2463609" y="4407767"/>
              <a:ext cx="0" cy="45208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a16:creationId xmlns:a16="http://schemas.microsoft.com/office/drawing/2014/main" id="{D12F5534-39EB-BE6F-8427-D3879437B0DD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>
              <a:off x="2463609" y="5399847"/>
              <a:ext cx="0" cy="452079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CuadroTexto 86">
            <a:extLst>
              <a:ext uri="{FF2B5EF4-FFF2-40B4-BE49-F238E27FC236}">
                <a16:creationId xmlns:a16="http://schemas.microsoft.com/office/drawing/2014/main" id="{AA38248F-EB4F-256F-65A6-80CDAF80CB46}"/>
              </a:ext>
            </a:extLst>
          </p:cNvPr>
          <p:cNvSpPr txBox="1"/>
          <p:nvPr/>
        </p:nvSpPr>
        <p:spPr>
          <a:xfrm>
            <a:off x="846162" y="1156211"/>
            <a:ext cx="2318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ORDEN EJECUCIÓN: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40AD3C8-14CE-5576-73A1-E37DB7CF8A01}"/>
              </a:ext>
            </a:extLst>
          </p:cNvPr>
          <p:cNvSpPr txBox="1"/>
          <p:nvPr/>
        </p:nvSpPr>
        <p:spPr>
          <a:xfrm>
            <a:off x="5037663" y="1156211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BUCLE WHILE</a:t>
            </a:r>
            <a:r>
              <a:rPr lang="es-ES" dirty="0"/>
              <a:t>: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222C1C78-90D9-B6F1-82D9-09F3AF0056FA}"/>
              </a:ext>
            </a:extLst>
          </p:cNvPr>
          <p:cNvSpPr/>
          <p:nvPr/>
        </p:nvSpPr>
        <p:spPr>
          <a:xfrm>
            <a:off x="-15546" y="0"/>
            <a:ext cx="12207546" cy="90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D391730F-2A84-FFFA-6CE1-D3A9729ED2DB}"/>
              </a:ext>
            </a:extLst>
          </p:cNvPr>
          <p:cNvSpPr txBox="1"/>
          <p:nvPr/>
        </p:nvSpPr>
        <p:spPr>
          <a:xfrm>
            <a:off x="446854" y="157613"/>
            <a:ext cx="10101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Diagrama de bloques</a:t>
            </a:r>
          </a:p>
        </p:txBody>
      </p:sp>
    </p:spTree>
    <p:extLst>
      <p:ext uri="{BB962C8B-B14F-4D97-AF65-F5344CB8AC3E}">
        <p14:creationId xmlns:p14="http://schemas.microsoft.com/office/powerpoint/2010/main" val="335182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03DC13-4278-A027-6845-8FB7E14F9E18}"/>
              </a:ext>
            </a:extLst>
          </p:cNvPr>
          <p:cNvSpPr/>
          <p:nvPr/>
        </p:nvSpPr>
        <p:spPr>
          <a:xfrm>
            <a:off x="-15546" y="0"/>
            <a:ext cx="12207546" cy="90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51E3F5-7E28-96FF-A658-D403AAF386C3}"/>
              </a:ext>
            </a:extLst>
          </p:cNvPr>
          <p:cNvSpPr txBox="1"/>
          <p:nvPr/>
        </p:nvSpPr>
        <p:spPr>
          <a:xfrm>
            <a:off x="446854" y="157613"/>
            <a:ext cx="10101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Definición de clases</a:t>
            </a:r>
          </a:p>
        </p:txBody>
      </p:sp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BCC33945-6B87-03DA-DA1D-96EC39261BAD}"/>
              </a:ext>
            </a:extLst>
          </p:cNvPr>
          <p:cNvSpPr/>
          <p:nvPr/>
        </p:nvSpPr>
        <p:spPr>
          <a:xfrm>
            <a:off x="409426" y="1542195"/>
            <a:ext cx="2520000" cy="612648"/>
          </a:xfrm>
          <a:prstGeom prst="flowChartAlternateProcess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CLASE BARCO</a:t>
            </a:r>
          </a:p>
        </p:txBody>
      </p:sp>
      <p:sp>
        <p:nvSpPr>
          <p:cNvPr id="5" name="Diagrama de flujo: proceso alternativo 4">
            <a:extLst>
              <a:ext uri="{FF2B5EF4-FFF2-40B4-BE49-F238E27FC236}">
                <a16:creationId xmlns:a16="http://schemas.microsoft.com/office/drawing/2014/main" id="{FDE75835-B720-FFE2-DA9A-D43311B261D4}"/>
              </a:ext>
            </a:extLst>
          </p:cNvPr>
          <p:cNvSpPr/>
          <p:nvPr/>
        </p:nvSpPr>
        <p:spPr>
          <a:xfrm>
            <a:off x="3358859" y="1542195"/>
            <a:ext cx="2520000" cy="612648"/>
          </a:xfrm>
          <a:prstGeom prst="flowChartAlternateProcess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CLASE TABLERO</a:t>
            </a:r>
          </a:p>
        </p:txBody>
      </p:sp>
      <p:sp>
        <p:nvSpPr>
          <p:cNvPr id="6" name="Diagrama de flujo: proceso alternativo 5">
            <a:extLst>
              <a:ext uri="{FF2B5EF4-FFF2-40B4-BE49-F238E27FC236}">
                <a16:creationId xmlns:a16="http://schemas.microsoft.com/office/drawing/2014/main" id="{7610316E-F1AB-6FF4-49A9-1BE27F8EB474}"/>
              </a:ext>
            </a:extLst>
          </p:cNvPr>
          <p:cNvSpPr/>
          <p:nvPr/>
        </p:nvSpPr>
        <p:spPr>
          <a:xfrm>
            <a:off x="6308292" y="1542195"/>
            <a:ext cx="2520000" cy="612648"/>
          </a:xfrm>
          <a:prstGeom prst="flowChartAlternateProcess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CLASE JUGADOR</a:t>
            </a:r>
          </a:p>
        </p:txBody>
      </p:sp>
      <p:sp>
        <p:nvSpPr>
          <p:cNvPr id="7" name="Diagrama de flujo: proceso alternativo 6">
            <a:extLst>
              <a:ext uri="{FF2B5EF4-FFF2-40B4-BE49-F238E27FC236}">
                <a16:creationId xmlns:a16="http://schemas.microsoft.com/office/drawing/2014/main" id="{41F44531-27BF-0DA0-6435-D1649731B164}"/>
              </a:ext>
            </a:extLst>
          </p:cNvPr>
          <p:cNvSpPr/>
          <p:nvPr/>
        </p:nvSpPr>
        <p:spPr>
          <a:xfrm>
            <a:off x="9257724" y="1542195"/>
            <a:ext cx="2520000" cy="612648"/>
          </a:xfrm>
          <a:prstGeom prst="flowChartAlternateProcess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CLASE JUEGO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2867B8E-4680-BFEA-F586-23D8E8923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494027"/>
              </p:ext>
            </p:extLst>
          </p:nvPr>
        </p:nvGraphicFramePr>
        <p:xfrm>
          <a:off x="409426" y="2330664"/>
          <a:ext cx="2520000" cy="360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5262701"/>
                    </a:ext>
                  </a:extLst>
                </a:gridCol>
              </a:tblGrid>
              <a:tr h="560205">
                <a:tc>
                  <a:txBody>
                    <a:bodyPr/>
                    <a:lstStyle/>
                    <a:p>
                      <a:r>
                        <a:rPr lang="es-ES" b="1" dirty="0"/>
                        <a:t>Atributos: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668016"/>
                  </a:ext>
                </a:extLst>
              </a:tr>
              <a:tr h="1611549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nombre: </a:t>
                      </a:r>
                      <a:r>
                        <a:rPr lang="es-ES" sz="1600" dirty="0" err="1"/>
                        <a:t>str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eslora: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coordenadas: </a:t>
                      </a:r>
                      <a:r>
                        <a:rPr lang="es-ES" sz="1600" dirty="0" err="1"/>
                        <a:t>list</a:t>
                      </a:r>
                      <a:r>
                        <a:rPr lang="es-ES" sz="1600" dirty="0"/>
                        <a:t>[</a:t>
                      </a:r>
                      <a:r>
                        <a:rPr lang="es-ES" sz="1600" dirty="0" err="1"/>
                        <a:t>tuple</a:t>
                      </a:r>
                      <a:r>
                        <a:rPr lang="es-ES" sz="1600" dirty="0"/>
                        <a:t>]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Impactos: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2849"/>
                  </a:ext>
                </a:extLst>
              </a:tr>
              <a:tr h="560205">
                <a:tc>
                  <a:txBody>
                    <a:bodyPr/>
                    <a:lstStyle/>
                    <a:p>
                      <a:r>
                        <a:rPr lang="es-ES" b="1" dirty="0"/>
                        <a:t>Métodos: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9703916"/>
                  </a:ext>
                </a:extLst>
              </a:tr>
              <a:tr h="874841">
                <a:tc>
                  <a:txBody>
                    <a:bodyPr/>
                    <a:lstStyle/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registrar_impacto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esta_hundido</a:t>
                      </a:r>
                      <a:endParaRPr lang="es-E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6539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24135D7-834F-73B0-4EF5-1BADAC652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12663"/>
              </p:ext>
            </p:extLst>
          </p:nvPr>
        </p:nvGraphicFramePr>
        <p:xfrm>
          <a:off x="3322859" y="2330664"/>
          <a:ext cx="2628000" cy="360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645262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 dirty="0"/>
                        <a:t>Atributos: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66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filas: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columnas: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tablero: </a:t>
                      </a:r>
                      <a:r>
                        <a:rPr lang="es-ES" sz="1600" dirty="0" err="1"/>
                        <a:t>np</a:t>
                      </a:r>
                      <a:r>
                        <a:rPr lang="es-ES" sz="1600" dirty="0"/>
                        <a:t> array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disparos: </a:t>
                      </a:r>
                      <a:r>
                        <a:rPr lang="es-ES" sz="1600" dirty="0" err="1"/>
                        <a:t>np</a:t>
                      </a:r>
                      <a:r>
                        <a:rPr lang="es-ES" sz="1600" dirty="0"/>
                        <a:t> array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/>
                        <a:t>Métodos: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9703916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dentro_de</a:t>
                      </a:r>
                      <a:r>
                        <a:rPr lang="es-ES" sz="1600" dirty="0"/>
                        <a:t> tablero()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hay_espacio_libre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colocar_barco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generar_coordenadas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disparar()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registar_disparo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mostrar()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65391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EAF6A17-A5C9-114A-C8F7-43F7EB52D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451175"/>
              </p:ext>
            </p:extLst>
          </p:nvPr>
        </p:nvGraphicFramePr>
        <p:xfrm>
          <a:off x="6344292" y="2330663"/>
          <a:ext cx="2520000" cy="3606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5262701"/>
                    </a:ext>
                  </a:extLst>
                </a:gridCol>
              </a:tblGrid>
              <a:tr h="528134">
                <a:tc>
                  <a:txBody>
                    <a:bodyPr/>
                    <a:lstStyle/>
                    <a:p>
                      <a:r>
                        <a:rPr lang="es-ES" b="1" dirty="0"/>
                        <a:t>Atributos: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668016"/>
                  </a:ext>
                </a:extLst>
              </a:tr>
              <a:tr h="1378507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nombre: </a:t>
                      </a:r>
                      <a:r>
                        <a:rPr lang="es-ES" sz="1600" dirty="0" err="1"/>
                        <a:t>str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tablero: Tablero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barcos: </a:t>
                      </a:r>
                      <a:r>
                        <a:rPr lang="es-ES" sz="1600" dirty="0" err="1"/>
                        <a:t>list</a:t>
                      </a:r>
                      <a:r>
                        <a:rPr lang="es-ES" sz="1600" dirty="0"/>
                        <a:t>[Barco]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vidas: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2849"/>
                  </a:ext>
                </a:extLst>
              </a:tr>
              <a:tr h="528134">
                <a:tc>
                  <a:txBody>
                    <a:bodyPr/>
                    <a:lstStyle/>
                    <a:p>
                      <a:r>
                        <a:rPr lang="es-ES" b="1" dirty="0"/>
                        <a:t>Métodos: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9703916"/>
                  </a:ext>
                </a:extLst>
              </a:tr>
              <a:tr h="1172024">
                <a:tc>
                  <a:txBody>
                    <a:bodyPr/>
                    <a:lstStyle/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inicializar_barcos</a:t>
                      </a:r>
                      <a:r>
                        <a:rPr lang="es-ES" sz="1600" dirty="0"/>
                        <a:t>()</a:t>
                      </a:r>
                    </a:p>
                    <a:p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recibir_disparo</a:t>
                      </a:r>
                      <a:r>
                        <a:rPr lang="es-ES" sz="1600" dirty="0"/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+ </a:t>
                      </a:r>
                      <a:r>
                        <a:rPr lang="es-ES" sz="1600" dirty="0" err="1"/>
                        <a:t>disparar_a</a:t>
                      </a:r>
                      <a:r>
                        <a:rPr lang="es-ES" sz="1600" dirty="0"/>
                        <a:t>()</a:t>
                      </a:r>
                    </a:p>
                    <a:p>
                      <a:endParaRPr lang="es-E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65391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8F867294-40DD-FE23-7FCD-7ECC35EED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16245"/>
              </p:ext>
            </p:extLst>
          </p:nvPr>
        </p:nvGraphicFramePr>
        <p:xfrm>
          <a:off x="9257724" y="2330664"/>
          <a:ext cx="2520000" cy="360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5262701"/>
                    </a:ext>
                  </a:extLst>
                </a:gridCol>
              </a:tblGrid>
              <a:tr h="465188">
                <a:tc>
                  <a:txBody>
                    <a:bodyPr/>
                    <a:lstStyle/>
                    <a:p>
                      <a:r>
                        <a:rPr lang="es-ES" b="1" dirty="0"/>
                        <a:t>Atributos: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668016"/>
                  </a:ext>
                </a:extLst>
              </a:tr>
              <a:tr h="1644088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filas: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columnas: </a:t>
                      </a:r>
                      <a:r>
                        <a:rPr lang="es-ES" sz="1600" dirty="0" err="1"/>
                        <a:t>int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</a:t>
                      </a:r>
                      <a:r>
                        <a:rPr lang="es-ES" sz="1600" dirty="0" err="1"/>
                        <a:t>id_jugador</a:t>
                      </a:r>
                      <a:r>
                        <a:rPr lang="es-ES" sz="1600" dirty="0"/>
                        <a:t>: </a:t>
                      </a:r>
                      <a:r>
                        <a:rPr lang="es-ES" sz="1600" dirty="0" err="1"/>
                        <a:t>str</a:t>
                      </a:r>
                      <a:endParaRPr lang="es-ES" sz="160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jugador: Jugador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600" dirty="0"/>
                        <a:t>- máquina: Jugador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42849"/>
                  </a:ext>
                </a:extLst>
              </a:tr>
              <a:tr h="465188">
                <a:tc>
                  <a:txBody>
                    <a:bodyPr/>
                    <a:lstStyle/>
                    <a:p>
                      <a:r>
                        <a:rPr lang="es-ES" b="1" dirty="0"/>
                        <a:t>Métodos: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9703916"/>
                  </a:ext>
                </a:extLst>
              </a:tr>
              <a:tr h="1032334">
                <a:tc>
                  <a:txBody>
                    <a:bodyPr/>
                    <a:lstStyle/>
                    <a:p>
                      <a:r>
                        <a:rPr lang="es-ES" sz="1600" dirty="0"/>
                        <a:t>+ iniciar()</a:t>
                      </a:r>
                    </a:p>
                    <a:p>
                      <a:r>
                        <a:rPr lang="es-ES" sz="1600" dirty="0"/>
                        <a:t>+pedir_</a:t>
                      </a:r>
                      <a:r>
                        <a:rPr lang="es-ES" sz="1600" dirty="0" err="1"/>
                        <a:t>coord</a:t>
                      </a:r>
                      <a:r>
                        <a:rPr lang="es-ES" sz="1600" dirty="0"/>
                        <a:t>._usuario()</a:t>
                      </a:r>
                    </a:p>
                    <a:p>
                      <a:r>
                        <a:rPr lang="es-ES" sz="1600" dirty="0"/>
                        <a:t>+ elegir_</a:t>
                      </a:r>
                      <a:r>
                        <a:rPr lang="es-ES" sz="1600" dirty="0" err="1"/>
                        <a:t>obj</a:t>
                      </a:r>
                      <a:r>
                        <a:rPr lang="es-ES" sz="1600" dirty="0"/>
                        <a:t>._maquina()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66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426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253</Words>
  <Application>Microsoft Office PowerPoint</Application>
  <PresentationFormat>Panorámica</PresentationFormat>
  <Paragraphs>72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TEAM CHALLENGE 1 (GRUPO 2)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Quindimil Rengel</dc:creator>
  <cp:lastModifiedBy>Adrian Quindimil Rengel</cp:lastModifiedBy>
  <cp:revision>3</cp:revision>
  <dcterms:created xsi:type="dcterms:W3CDTF">2025-11-17T07:00:00Z</dcterms:created>
  <dcterms:modified xsi:type="dcterms:W3CDTF">2025-11-17T08:59:12Z</dcterms:modified>
</cp:coreProperties>
</file>